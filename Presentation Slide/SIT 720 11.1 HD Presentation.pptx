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5715" y="4601441"/>
            <a:ext cx="5011908" cy="5011908"/>
          </a:xfrm>
          <a:custGeom>
            <a:avLst/>
            <a:gdLst/>
            <a:ahLst/>
            <a:cxnLst/>
            <a:rect l="l" t="t" r="r" b="b"/>
            <a:pathLst>
              <a:path w="5011908" h="5011908">
                <a:moveTo>
                  <a:pt x="0" y="0"/>
                </a:moveTo>
                <a:lnTo>
                  <a:pt x="5011907" y="0"/>
                </a:lnTo>
                <a:lnTo>
                  <a:pt x="5011907" y="5011908"/>
                </a:lnTo>
                <a:lnTo>
                  <a:pt x="0" y="5011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601700" y="8726285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607344" y="330360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30465" y="104775"/>
            <a:ext cx="1857669" cy="1227919"/>
          </a:xfrm>
          <a:custGeom>
            <a:avLst/>
            <a:gdLst/>
            <a:ahLst/>
            <a:cxnLst/>
            <a:rect l="l" t="t" r="r" b="b"/>
            <a:pathLst>
              <a:path w="1857669" h="1227919">
                <a:moveTo>
                  <a:pt x="0" y="0"/>
                </a:moveTo>
                <a:lnTo>
                  <a:pt x="1857670" y="0"/>
                </a:lnTo>
                <a:lnTo>
                  <a:pt x="1857670" y="1227919"/>
                </a:lnTo>
                <a:lnTo>
                  <a:pt x="0" y="1227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90080" y="1480115"/>
            <a:ext cx="14620875" cy="2435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111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 Explainable </a:t>
            </a:r>
            <a:r>
              <a:rPr lang="en-US" sz="4599" b="1" dirty="0" err="1">
                <a:solidFill>
                  <a:srgbClr val="0111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Optimised</a:t>
            </a:r>
            <a:r>
              <a:rPr lang="en-US" sz="4599" b="1" dirty="0">
                <a:solidFill>
                  <a:srgbClr val="0111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Stacking Ensemble Framework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111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Heart Attack Prediction: Reproduction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111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and Enhancement of a Machine Learning Approach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23447" y="6330154"/>
            <a:ext cx="5411292" cy="232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111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Name: Nafis Hasnat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111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ID: 226455731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111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Unit: SIT720 Machine Learning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111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Assessment: Task 11.1HD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90797" y="6413157"/>
            <a:ext cx="3097128" cy="2443916"/>
          </a:xfrm>
          <a:custGeom>
            <a:avLst/>
            <a:gdLst/>
            <a:ahLst/>
            <a:cxnLst/>
            <a:rect l="l" t="t" r="r" b="b"/>
            <a:pathLst>
              <a:path w="3097128" h="2443916">
                <a:moveTo>
                  <a:pt x="0" y="0"/>
                </a:moveTo>
                <a:lnTo>
                  <a:pt x="3097128" y="0"/>
                </a:lnTo>
                <a:lnTo>
                  <a:pt x="3097128" y="2443916"/>
                </a:lnTo>
                <a:lnTo>
                  <a:pt x="0" y="2443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3090922" y="8809448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118122" y="413523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612962" y="1545634"/>
            <a:ext cx="10977835" cy="8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Background &amp; 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86872" y="3613583"/>
            <a:ext cx="10811868" cy="530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Background:</a:t>
            </a:r>
          </a:p>
          <a:p>
            <a:pPr marL="712462" lvl="1" indent="-356231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Cardiovascular disease is a major global health challenge.</a:t>
            </a:r>
          </a:p>
          <a:p>
            <a:pPr marL="712462" lvl="1" indent="-356231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can support early heart disease prediction.</a:t>
            </a:r>
          </a:p>
          <a:p>
            <a:pPr marL="712462" lvl="1" indent="-356231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models provide strong predictive performance.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Objectives:</a:t>
            </a:r>
          </a:p>
          <a:p>
            <a:pPr marL="712462" lvl="1" indent="-356231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Reproduce a published stacking ensemble framework.</a:t>
            </a:r>
          </a:p>
          <a:p>
            <a:pPr marL="712462" lvl="1" indent="-356231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Critically analyse its reliability.</a:t>
            </a:r>
          </a:p>
          <a:p>
            <a:pPr marL="712462" lvl="1" indent="-356231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improved explainable stacking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20649" y="573087"/>
            <a:ext cx="9647434" cy="753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Reproduction of Published Research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9286" y="1900870"/>
            <a:ext cx="12927311" cy="1199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Research Paper:  An efficient stacking-based ensemble technique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early heart attack prediction(Bhagat et al., 2025)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10391" y="3530069"/>
            <a:ext cx="3595985" cy="2507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Original Framework: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Dataset:</a:t>
            </a:r>
          </a:p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disease dataset</a:t>
            </a:r>
          </a:p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1,025 patient records</a:t>
            </a:r>
          </a:p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clinical features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989286" y="6448317"/>
            <a:ext cx="13731082" cy="3302108"/>
            <a:chOff x="0" y="0"/>
            <a:chExt cx="18308109" cy="4402811"/>
          </a:xfrm>
        </p:grpSpPr>
        <p:sp>
          <p:nvSpPr>
            <p:cNvPr id="6" name="TextBox 6"/>
            <p:cNvSpPr txBox="1"/>
            <p:nvPr/>
          </p:nvSpPr>
          <p:spPr>
            <a:xfrm>
              <a:off x="0" y="617575"/>
              <a:ext cx="18308109" cy="3785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82925" lvl="1" indent="-291463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Logistic Regression</a:t>
              </a:r>
            </a:p>
            <a:p>
              <a:pPr marL="582925" lvl="1" indent="-291463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Decision Tree</a:t>
              </a:r>
            </a:p>
            <a:p>
              <a:pPr marL="582925" lvl="1" indent="-291463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Random Forest</a:t>
              </a:r>
            </a:p>
            <a:p>
              <a:pPr marL="582925" lvl="1" indent="-291463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XGBoost</a:t>
              </a:r>
            </a:p>
            <a:p>
              <a:pPr marL="582925" lvl="1" indent="-291463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Naive Bayes</a:t>
              </a:r>
            </a:p>
            <a:p>
              <a:pPr marL="582925" lvl="1" indent="-291463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K-Nearest Neighbours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24698" y="-76200"/>
              <a:ext cx="6805216" cy="663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Base Machine Learning Models: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24366" y="3643311"/>
            <a:ext cx="9206409" cy="194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Reproduction Objective:</a:t>
            </a: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the published stacking ensemble framework.</a:t>
            </a: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whether the reported performance can be reproduced.</a:t>
            </a: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dataset quality and model reliability.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32112" y="6124467"/>
            <a:ext cx="4435971" cy="3287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ML Classifiers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Stacking Ensemble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Attack Prediction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915501" y="8476089"/>
            <a:ext cx="2103283" cy="1564421"/>
            <a:chOff x="0" y="0"/>
            <a:chExt cx="553951" cy="4120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3951" cy="412029"/>
            </a:xfrm>
            <a:custGeom>
              <a:avLst/>
              <a:gdLst/>
              <a:ahLst/>
              <a:cxnLst/>
              <a:rect l="l" t="t" r="r" b="b"/>
              <a:pathLst>
                <a:path w="553951" h="412029">
                  <a:moveTo>
                    <a:pt x="88341" y="0"/>
                  </a:moveTo>
                  <a:lnTo>
                    <a:pt x="465610" y="0"/>
                  </a:lnTo>
                  <a:cubicBezTo>
                    <a:pt x="514400" y="0"/>
                    <a:pt x="553951" y="39552"/>
                    <a:pt x="553951" y="88341"/>
                  </a:cubicBezTo>
                  <a:lnTo>
                    <a:pt x="553951" y="323688"/>
                  </a:lnTo>
                  <a:cubicBezTo>
                    <a:pt x="553951" y="372477"/>
                    <a:pt x="514400" y="412029"/>
                    <a:pt x="465610" y="412029"/>
                  </a:cubicBezTo>
                  <a:lnTo>
                    <a:pt x="88341" y="412029"/>
                  </a:lnTo>
                  <a:cubicBezTo>
                    <a:pt x="39552" y="412029"/>
                    <a:pt x="0" y="372477"/>
                    <a:pt x="0" y="323688"/>
                  </a:cubicBezTo>
                  <a:lnTo>
                    <a:pt x="0" y="88341"/>
                  </a:lnTo>
                  <a:cubicBezTo>
                    <a:pt x="0" y="39552"/>
                    <a:pt x="39552" y="0"/>
                    <a:pt x="88341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553951" cy="440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337391" y="8778544"/>
            <a:ext cx="1259502" cy="959512"/>
          </a:xfrm>
          <a:custGeom>
            <a:avLst/>
            <a:gdLst/>
            <a:ahLst/>
            <a:cxnLst/>
            <a:rect l="l" t="t" r="r" b="b"/>
            <a:pathLst>
              <a:path w="1259502" h="959512">
                <a:moveTo>
                  <a:pt x="0" y="0"/>
                </a:moveTo>
                <a:lnTo>
                  <a:pt x="1259503" y="0"/>
                </a:lnTo>
                <a:lnTo>
                  <a:pt x="1259503" y="959512"/>
                </a:lnTo>
                <a:lnTo>
                  <a:pt x="0" y="959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090922" y="8809448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118122" y="413523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275470" y="1344202"/>
            <a:ext cx="15869530" cy="871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Quality Analysis and Reproduction Findings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463403" y="3002915"/>
            <a:ext cx="5317528" cy="5197476"/>
            <a:chOff x="0" y="0"/>
            <a:chExt cx="7090037" cy="6929969"/>
          </a:xfrm>
        </p:grpSpPr>
        <p:sp>
          <p:nvSpPr>
            <p:cNvPr id="6" name="TextBox 6"/>
            <p:cNvSpPr txBox="1"/>
            <p:nvPr/>
          </p:nvSpPr>
          <p:spPr>
            <a:xfrm>
              <a:off x="0" y="-85725"/>
              <a:ext cx="5546858" cy="770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 Investigation: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75" y="1137919"/>
              <a:ext cx="5900689" cy="2070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Heart Disease Dataset:</a:t>
              </a:r>
            </a:p>
            <a:p>
              <a:pPr marL="647694" lvl="1" indent="-323847" algn="l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1,025 Records</a:t>
              </a:r>
            </a:p>
            <a:p>
              <a:pPr marL="647694" lvl="1" indent="-323847" algn="l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 Clinical Features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875" y="3390053"/>
              <a:ext cx="6286481" cy="2070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Duplicate Records Identified:</a:t>
              </a:r>
            </a:p>
            <a:p>
              <a:pPr marL="647694" lvl="1" indent="-323847" algn="l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723 Duplicate Samples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75" y="5501429"/>
              <a:ext cx="7015162" cy="1428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Clean Dataset:</a:t>
              </a:r>
            </a:p>
            <a:p>
              <a:pPr marL="669283" lvl="1" indent="-334641" algn="l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302 Unique Patient Records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947511" y="2936240"/>
            <a:ext cx="5702897" cy="4686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Reproduction Result: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Dataset Accuracy: 100%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Duplicate Removal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realistic evaluation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decreased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74207" y="8723723"/>
            <a:ext cx="11518007" cy="1075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Finding: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 records can lead to overestimated machine learning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891915" y="-263929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50613" y="685800"/>
            <a:ext cx="13351669" cy="823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Optimised Stacking Ensemble Framework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35333" y="1940415"/>
            <a:ext cx="4019725" cy="6468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Heart Disease Dataset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 Removal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Dataset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Importance Analysis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Selection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Optimisation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Optimised Stacking Ensemble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</a:p>
          <a:p>
            <a:pPr algn="ctr">
              <a:lnSpc>
                <a:spcPts val="3038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Explainability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26448" y="1907145"/>
            <a:ext cx="7606113" cy="2304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Improvements Over Original Approach: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quality validation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Feature-based optimisation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tuning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AI integration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08535" y="8751022"/>
            <a:ext cx="13041016" cy="104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 Contribution: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reliable and interpretable stacking framework evaluated on a duplicate-free dataset.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BFBFDEA-912A-30BB-B633-3569CEA90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767875"/>
              </p:ext>
            </p:extLst>
          </p:nvPr>
        </p:nvGraphicFramePr>
        <p:xfrm>
          <a:off x="8305800" y="4744688"/>
          <a:ext cx="8839200" cy="2608340"/>
        </p:xfrm>
        <a:graphic>
          <a:graphicData uri="http://schemas.openxmlformats.org/drawingml/2006/table">
            <a:tbl>
              <a:tblPr/>
              <a:tblGrid>
                <a:gridCol w="3456557">
                  <a:extLst>
                    <a:ext uri="{9D8B030D-6E8A-4147-A177-3AD203B41FA5}">
                      <a16:colId xmlns:a16="http://schemas.microsoft.com/office/drawing/2014/main" val="475551385"/>
                    </a:ext>
                  </a:extLst>
                </a:gridCol>
                <a:gridCol w="5382643">
                  <a:extLst>
                    <a:ext uri="{9D8B030D-6E8A-4147-A177-3AD203B41FA5}">
                      <a16:colId xmlns:a16="http://schemas.microsoft.com/office/drawing/2014/main" val="2070652872"/>
                    </a:ext>
                  </a:extLst>
                </a:gridCol>
              </a:tblGrid>
              <a:tr h="521668">
                <a:tc>
                  <a:txBody>
                    <a:bodyPr/>
                    <a:lstStyle/>
                    <a:p>
                      <a:r>
                        <a:rPr lang="en-AU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Approach: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Framework: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100424"/>
                  </a:ext>
                </a:extLst>
              </a:tr>
              <a:tr h="521668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Stacking ensemble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Optimised stacking ensemble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629611"/>
                  </a:ext>
                </a:extLst>
              </a:tr>
              <a:tr h="521668">
                <a:tc>
                  <a:txBody>
                    <a:bodyPr/>
                    <a:lstStyle/>
                    <a:p>
                      <a:r>
                        <a:rPr lang="en-A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Duplicate-free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618883"/>
                  </a:ext>
                </a:extLst>
              </a:tr>
              <a:tr h="521668">
                <a:tc>
                  <a:txBody>
                    <a:bodyPr/>
                    <a:lstStyle/>
                    <a:p>
                      <a:r>
                        <a:rPr lang="en-A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focused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+ reliability + explainability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805243"/>
                  </a:ext>
                </a:extLst>
              </a:tr>
              <a:tr h="521668">
                <a:tc>
                  <a:txBody>
                    <a:bodyPr/>
                    <a:lstStyle/>
                    <a:p>
                      <a:r>
                        <a:rPr lang="en-A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SHAP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SHAP-based 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0771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493778" y="6965566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133600" y="-230652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1049000" y="4645767"/>
            <a:ext cx="4843584" cy="3713678"/>
          </a:xfrm>
          <a:custGeom>
            <a:avLst/>
            <a:gdLst/>
            <a:ahLst/>
            <a:cxnLst/>
            <a:rect l="l" t="t" r="r" b="b"/>
            <a:pathLst>
              <a:path w="4843584" h="3713678">
                <a:moveTo>
                  <a:pt x="0" y="0"/>
                </a:moveTo>
                <a:lnTo>
                  <a:pt x="4843584" y="0"/>
                </a:lnTo>
                <a:lnTo>
                  <a:pt x="4843584" y="3713678"/>
                </a:lnTo>
                <a:lnTo>
                  <a:pt x="0" y="3713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83780" y="829582"/>
            <a:ext cx="12720440" cy="8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Results and Performance Evaluation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52800" y="5129240"/>
            <a:ext cx="8216822" cy="225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Improvement Achieved: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improvement: +6.56%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 improvement: +6.45%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AUC improvement: 0.868 → 0.885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2665" y="8689295"/>
            <a:ext cx="18095335" cy="109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Result: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framework improved predictive performance while maintaining evaluation on a duplicate-free dataset.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450D9C-3DAC-4A83-A347-701816BC1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853208"/>
              </p:ext>
            </p:extLst>
          </p:nvPr>
        </p:nvGraphicFramePr>
        <p:xfrm>
          <a:off x="3581400" y="2141087"/>
          <a:ext cx="10475020" cy="2030701"/>
        </p:xfrm>
        <a:graphic>
          <a:graphicData uri="http://schemas.openxmlformats.org/drawingml/2006/table">
            <a:tbl>
              <a:tblPr/>
              <a:tblGrid>
                <a:gridCol w="2618755">
                  <a:extLst>
                    <a:ext uri="{9D8B030D-6E8A-4147-A177-3AD203B41FA5}">
                      <a16:colId xmlns:a16="http://schemas.microsoft.com/office/drawing/2014/main" val="295644017"/>
                    </a:ext>
                  </a:extLst>
                </a:gridCol>
                <a:gridCol w="2618755">
                  <a:extLst>
                    <a:ext uri="{9D8B030D-6E8A-4147-A177-3AD203B41FA5}">
                      <a16:colId xmlns:a16="http://schemas.microsoft.com/office/drawing/2014/main" val="1482570751"/>
                    </a:ext>
                  </a:extLst>
                </a:gridCol>
                <a:gridCol w="2618755">
                  <a:extLst>
                    <a:ext uri="{9D8B030D-6E8A-4147-A177-3AD203B41FA5}">
                      <a16:colId xmlns:a16="http://schemas.microsoft.com/office/drawing/2014/main" val="1759579328"/>
                    </a:ext>
                  </a:extLst>
                </a:gridCol>
                <a:gridCol w="2618755">
                  <a:extLst>
                    <a:ext uri="{9D8B030D-6E8A-4147-A177-3AD203B41FA5}">
                      <a16:colId xmlns:a16="http://schemas.microsoft.com/office/drawing/2014/main" val="3973206250"/>
                    </a:ext>
                  </a:extLst>
                </a:gridCol>
              </a:tblGrid>
              <a:tr h="451267">
                <a:tc>
                  <a:txBody>
                    <a:bodyPr/>
                    <a:lstStyle/>
                    <a:p>
                      <a:r>
                        <a:rPr lang="en-AU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/>
                        <a:t>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321167"/>
                  </a:ext>
                </a:extLst>
              </a:tr>
              <a:tr h="789717">
                <a:tc>
                  <a:txBody>
                    <a:bodyPr/>
                    <a:lstStyle/>
                    <a:p>
                      <a:r>
                        <a:rPr lang="en-AU"/>
                        <a:t>Duplicate-Free Stacking 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/>
                        <a:t>75.41%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/>
                        <a:t>77.61%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/>
                        <a:t>0.868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711653"/>
                  </a:ext>
                </a:extLst>
              </a:tr>
              <a:tr h="789717">
                <a:tc>
                  <a:txBody>
                    <a:bodyPr/>
                    <a:lstStyle/>
                    <a:p>
                      <a:r>
                        <a:rPr lang="en-AU"/>
                        <a:t>Proposed Optimised Stacking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/>
                        <a:t>81.97%</a:t>
                      </a:r>
                      <a:endParaRPr lang="en-A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/>
                        <a:t>84.06%</a:t>
                      </a:r>
                      <a:endParaRPr lang="en-A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/>
                        <a:t>0.885</a:t>
                      </a:r>
                      <a:endParaRPr lang="en-A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603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296371" y="7460682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180280" y="-35329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212340" y="2934220"/>
            <a:ext cx="7063132" cy="5058477"/>
          </a:xfrm>
          <a:custGeom>
            <a:avLst/>
            <a:gdLst/>
            <a:ahLst/>
            <a:cxnLst/>
            <a:rect l="l" t="t" r="r" b="b"/>
            <a:pathLst>
              <a:path w="7063132" h="5058477">
                <a:moveTo>
                  <a:pt x="0" y="0"/>
                </a:moveTo>
                <a:lnTo>
                  <a:pt x="7063132" y="0"/>
                </a:lnTo>
                <a:lnTo>
                  <a:pt x="7063132" y="5058477"/>
                </a:lnTo>
                <a:lnTo>
                  <a:pt x="0" y="5058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245735" y="1034639"/>
            <a:ext cx="9050635" cy="781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Analysis Using SHAP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11667" y="3533775"/>
            <a:ext cx="7288213" cy="314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Influential Features: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cp — Chest pain type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ca — Number of major vessels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thal — Thalassemia indicator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oldpeak — ST depression induced by exercise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thalach — Maximum heart rate achieved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9895" y="8382000"/>
            <a:ext cx="17588210" cy="109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Finding: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analysis improves model transparency by explaining how clinical features influence heart attack predictions.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000" y="2211797"/>
            <a:ext cx="7941185" cy="459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SHAP Summary Plot: Feature Contributions: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00552" y="600"/>
            <a:ext cx="2187448" cy="2056201"/>
          </a:xfrm>
          <a:custGeom>
            <a:avLst/>
            <a:gdLst/>
            <a:ahLst/>
            <a:cxnLst/>
            <a:rect l="l" t="t" r="r" b="b"/>
            <a:pathLst>
              <a:path w="2187448" h="2056201">
                <a:moveTo>
                  <a:pt x="0" y="0"/>
                </a:moveTo>
                <a:lnTo>
                  <a:pt x="2187448" y="0"/>
                </a:lnTo>
                <a:lnTo>
                  <a:pt x="2187448" y="2056200"/>
                </a:lnTo>
                <a:lnTo>
                  <a:pt x="0" y="205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3090922" y="8809448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242438" y="-35329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4345533" y="904875"/>
            <a:ext cx="9596934" cy="882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Conclusion and Key Contributions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01178" y="1990136"/>
            <a:ext cx="12557721" cy="5825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Contributions: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Reproduced a published stacking ensemble framework 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the original heart attack prediction approach.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Identified dataset reliability issues 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Detected duplicate records affecting model evaluation.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Developed an optimised stacking framework 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data validation, feature selection, and hyperparameter optimisation.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Improved predictive performance 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better results on a duplicate-free dataset.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Integrated SHAP explainability 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Provided interpretable insights into clinical feature contributions.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210549"/>
            <a:ext cx="16230600" cy="104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healthcare machine learning requires not only high predictive performance, but also trustworthy data evaluation and model interpretability.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96543" y="9736974"/>
            <a:ext cx="1725513" cy="55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3"/>
              </a:lnSpc>
              <a:spcBef>
                <a:spcPct val="0"/>
              </a:spcBef>
            </a:pPr>
            <a:r>
              <a:rPr lang="en-US" sz="30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575</Words>
  <Application>Microsoft Office PowerPoint</Application>
  <PresentationFormat>Custom</PresentationFormat>
  <Paragraphs>138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Times New Roman Bold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\clearpage</dc:title>
  <cp:lastModifiedBy>Nafis Hasnat</cp:lastModifiedBy>
  <cp:revision>2</cp:revision>
  <dcterms:created xsi:type="dcterms:W3CDTF">2006-08-16T00:00:00Z</dcterms:created>
  <dcterms:modified xsi:type="dcterms:W3CDTF">2026-09-27T02:42:21Z</dcterms:modified>
  <dc:identifier>DAHWThDZCmA</dc:identifier>
</cp:coreProperties>
</file>